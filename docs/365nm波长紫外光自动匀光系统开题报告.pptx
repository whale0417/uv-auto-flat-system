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82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81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尊敬的各位评委老师，下午好。我的课题是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“</a:t>
            </a:r>
            <a:r>
              <a:rPr lang="zh-CN" alt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</a:t>
            </a:r>
            <a:r>
              <a:rPr lang="en-US" altLang="zh-CN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LED </a:t>
            </a:r>
            <a:r>
              <a:rPr lang="zh-CN" alt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阵列的 </a:t>
            </a:r>
            <a:r>
              <a:rPr lang="en-US" altLang="zh-CN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365nm </a:t>
            </a:r>
            <a:r>
              <a:rPr lang="zh-CN" alt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紫外</a:t>
            </a:r>
            <a:r>
              <a:rPr lang="zh-CN" altLang="en-US" sz="14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光</a:t>
            </a:r>
            <a:r>
              <a:rPr lang="zh-CN" alt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在光刻领域的自动匀光系统设计与实现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”。今天，我将从研究背景、研究内容、系统设计、关键算法以及实验方案等方面，对我的开题报告进行详细介绍。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围绕八个核心部分展开。首先，我会介绍课题的研究背景与意义。其次，将分析国内外的研究现状。再次，明确本研究的目标与主要内容。之后，会详细阐述系统的总体设计，包括硬件和软件架构。接着，将重点介绍本研究涉及的关键技术与核心算法。最后，会展示实验方案、预期成果与创新点，并对整个研究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现在，我们进入第一章：研究背景与意义。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光刻技术是半导体制造的基石，它的精度直接决定了芯片的性能。在光刻过程中，紫外光扮演着至关重要的角色。特别是365nm波长的紫外光，在一些特定的工艺节点中不可或缺。然而，要获得高质量的光刻图形，曝光平面的光强均匀性是一个必须解决的核心问题。任何微小的光强波动都可能导致光刻胶曝光不均，最终影响芯片的良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本研究具有重要的技术意义和应用价值。技术上，我们提出了一种创新的基于LED阵列和智能算法的匀光方案，旨在实现动态、实时的光强校正。应用上，该系统有望显著提高光刻工艺的稳定性，从而提升芯片的良率。同时，与传统的光学匀光方案相比，我们的设计可能更具成本效益和灵活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接下来，我们来看一下第二章：国内外研究现状。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国外，以ASML为代表的行业巨头，通过采用极其复杂的光学系统，已经能够实现非常高的光照均匀性。同时，基于LED的光源技术也日益受到关注，一些研究团队已经开始探索利用LED阵列和算法来实现动态匀光，并取得了不错的进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C5D4F-D510-8E90-7219-BC5AD032A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8950BC-94B0-44C9-DE29-D8B5A224E3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26D98-CFEF-5523-CE65-C20373513C5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A60F738-193C-3581-45EC-E98B8AFCE1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1BCA5AE-ECA4-FC51-22A4-3169493EB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接下来，我们来看一下第二章：国内外研究现状。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77192-77F6-60CC-2EB1-18EE96814B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3AAB6-A909-D485-F639-D28656E4C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57775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上述目标，我们的研究内容主要包括四个方面：首先是搭建硬件平台，包括LED灯板、传感器阵列和主控模块；其次是进行系统标定，建立输入与输出之间的数学模型；再次是研究并实现核心的匀光算法；最后是完成系统的集成与全面测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第四章，我将详细介绍系统的总体设计。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采用经典的三层架构：感知层、控制层和执行层。感知层由37个光强传感器组成，负责“看”到当前的光照分布。控制层是整个系统的大脑，由ESP32主控模块担当，它会根据传感器的数据，通过我们设计的算法，计算出最优的控制策略。执行层则是9块LED灯板，它们根据控制信号精确调整自己的亮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在硬件设计上，我们选择了模块化的方案。光源部分，我们使用9块独立的365nm LED灯板，可以灵活控制。检测部分，我们设计了一块包含37个传感器的PCB板，能够全面覆盖目标区域。控制核心，我们选用了性价比很高的ESP32开发板，它的资源足够满足我们的项目需求。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第五章，我将重点介绍本研究的关键技术与算法。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实现精确的控制，首先需要让系统“认识”自己。这个过程就是系统标定。我们会逐一点亮每个LED灯板，并在不同亮度下，记录所有传感器的读数。通过这个过程，我们可以建立一个数学模型，也就是影响系数矩阵，它描述了每个LED对每个传感器的具体影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标定好的模型，我们就可以应用算法来进行匀光控制了。我们选用的是最小二乘法。简单来说，它的核心思想就是找到一组LED的亮度值，使得所有传感器检测到的光强尽可能地接近我们设定的目标值。这个问题可以转化为一个线性方程组的求解，计算效率很高，非常适合实时控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第六章，我们将介绍实验方案与验证方法。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为了验证系统的性能，我们将在一个可控的环境中进行实验。主要设备包括我们搭建的系统原型机、一台高精度的光谱辐射计用于精确测量光强，以及一个暗箱来隔绝外界光线的干扰。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验将主要围绕三个方面展开：首先是均匀性测试，我们会在目标平面上选取多个点，来评估系统最终的匀光效果。其次是响应速度测试，我们会观察系统在面对干扰时，有多快能够恢复到均匀状态。最后是稳定性测试，我们会让系统长时间运行，观察其性能是否稳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最后，再次感谢各位评委老师的聆听。同时，我要特别感谢我的导师[导师姓名]教授，以及实验室的同学们，没有他们的帮助和支持，我无法完成这项研究。谢谢大家！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.jpe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28.svg"/><Relationship Id="rId5" Type="http://schemas.openxmlformats.org/officeDocument/2006/relationships/image" Target="../media/image24.svg"/><Relationship Id="rId10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32.svg"/><Relationship Id="rId5" Type="http://schemas.openxmlformats.org/officeDocument/2006/relationships/image" Target="../media/image7.svg"/><Relationship Id="rId10" Type="http://schemas.openxmlformats.org/officeDocument/2006/relationships/image" Target="../media/image31.png"/><Relationship Id="rId4" Type="http://schemas.openxmlformats.org/officeDocument/2006/relationships/image" Target="../media/image6.png"/><Relationship Id="rId9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11" Type="http://schemas.openxmlformats.org/officeDocument/2006/relationships/image" Target="../media/image43.png"/><Relationship Id="rId5" Type="http://schemas.openxmlformats.org/officeDocument/2006/relationships/image" Target="../media/image31.png"/><Relationship Id="rId10" Type="http://schemas.openxmlformats.org/officeDocument/2006/relationships/image" Target="../media/image42.png"/><Relationship Id="rId4" Type="http://schemas.openxmlformats.org/officeDocument/2006/relationships/image" Target="../media/image12.svg"/><Relationship Id="rId9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svg"/><Relationship Id="rId3" Type="http://schemas.openxmlformats.org/officeDocument/2006/relationships/image" Target="../media/image1.jpeg"/><Relationship Id="rId7" Type="http://schemas.openxmlformats.org/officeDocument/2006/relationships/image" Target="../media/image41.sv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11" Type="http://schemas.openxmlformats.org/officeDocument/2006/relationships/image" Target="../media/image47.svg"/><Relationship Id="rId5" Type="http://schemas.openxmlformats.org/officeDocument/2006/relationships/image" Target="../media/image39.svg"/><Relationship Id="rId10" Type="http://schemas.openxmlformats.org/officeDocument/2006/relationships/image" Target="../media/image46.png"/><Relationship Id="rId4" Type="http://schemas.openxmlformats.org/officeDocument/2006/relationships/image" Target="../media/image38.png"/><Relationship Id="rId9" Type="http://schemas.openxmlformats.org/officeDocument/2006/relationships/image" Target="../media/image45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jpeg"/><Relationship Id="rId7" Type="http://schemas.openxmlformats.org/officeDocument/2006/relationships/image" Target="../media/image5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png"/><Relationship Id="rId11" Type="http://schemas.openxmlformats.org/officeDocument/2006/relationships/image" Target="../media/image16.svg"/><Relationship Id="rId5" Type="http://schemas.openxmlformats.org/officeDocument/2006/relationships/image" Target="../media/image12.sv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5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4" name="AutoShape 4"/>
          <p:cNvSpPr/>
          <p:nvPr/>
        </p:nvSpPr>
        <p:spPr>
          <a:xfrm>
            <a:off x="1016000" y="1768764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</a:t>
            </a:r>
            <a:r>
              <a:rPr lang="en-US" altLang="zh-CN" sz="4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LED </a:t>
            </a:r>
            <a:r>
              <a:rPr lang="zh-CN" altLang="en-US" sz="4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阵列的 </a:t>
            </a:r>
            <a:r>
              <a:rPr lang="en-US" altLang="zh-CN" sz="4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365nm </a:t>
            </a:r>
            <a:r>
              <a:rPr lang="zh-CN" altLang="en-US" sz="4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紫外</a:t>
            </a:r>
            <a:r>
              <a:rPr lang="zh-CN" altLang="en-US" sz="40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光</a:t>
            </a:r>
            <a:r>
              <a:rPr lang="zh-CN" altLang="en-US" sz="4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在光刻领域的自动匀光系统设计与实现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461000" y="2794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286000" y="3673766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研究生开题报告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3556008" y="4210056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286000" y="4292601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报告人</a:t>
            </a:r>
            <a:r>
              <a:rPr lang="en-US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张竞予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096000" y="4292601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导　师：</a:t>
            </a:r>
            <a:r>
              <a:rPr lang="zh-CN" altLang="en-US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卫荣汉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3556000" y="4800601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日　期：</a:t>
            </a:r>
            <a:r>
              <a:rPr lang="en-US" altLang="zh-CN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2026</a:t>
            </a:r>
            <a:r>
              <a:rPr lang="zh-CN" altLang="en-US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年</a:t>
            </a:r>
            <a:r>
              <a:rPr lang="en-US" altLang="zh-CN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zh-CN" altLang="en-US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月</a:t>
            </a:r>
            <a:r>
              <a:rPr lang="en-US" altLang="zh-CN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16</a:t>
            </a:r>
            <a:r>
              <a:rPr lang="zh-CN" altLang="en-US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日</a:t>
            </a:r>
            <a:endParaRPr lang="en-US" sz="11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B988E48-30C6-E948-0AA7-73A707F5F56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37" r="-1534" b="1"/>
          <a:stretch/>
        </p:blipFill>
        <p:spPr>
          <a:xfrm>
            <a:off x="0" y="-7669"/>
            <a:ext cx="1302327" cy="1266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813215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251365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97000" y="2289465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研究背景与意义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814">
            <a:off x="762008" y="2816515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3203865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97000" y="3241965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国内外研究现状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814">
            <a:off x="762008" y="3769015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762000" y="4156365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97000" y="4194465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研究目标与内容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814">
            <a:off x="762008" y="4721515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6983" y="2289465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7111983" y="2327565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系统总体设计</a:t>
            </a:r>
            <a:endParaRPr lang="en-US" sz="1100"/>
          </a:p>
        </p:txBody>
      </p:sp>
      <p:cxnSp>
        <p:nvCxnSpPr>
          <p:cNvPr id="18" name="Connector 18"/>
          <p:cNvCxnSpPr>
            <a:cxnSpLocks/>
          </p:cNvCxnSpPr>
          <p:nvPr/>
        </p:nvCxnSpPr>
        <p:spPr>
          <a:xfrm>
            <a:off x="6096000" y="2251365"/>
            <a:ext cx="0" cy="26670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477000" y="323041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7112000" y="326851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关键技术与算法</a:t>
            </a:r>
            <a:endParaRPr lang="en-US" sz="1100" dirty="0"/>
          </a:p>
        </p:txBody>
      </p:sp>
      <p:cxnSp>
        <p:nvCxnSpPr>
          <p:cNvPr id="21" name="Connector 21"/>
          <p:cNvCxnSpPr/>
          <p:nvPr/>
        </p:nvCxnSpPr>
        <p:spPr>
          <a:xfrm rot="-8814">
            <a:off x="6477008" y="2816515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418291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7112000" y="422101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实验方案与验证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8814">
            <a:off x="6477008" y="3769015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Connector 27"/>
          <p:cNvCxnSpPr/>
          <p:nvPr/>
        </p:nvCxnSpPr>
        <p:spPr>
          <a:xfrm rot="-8814">
            <a:off x="6477008" y="4721515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Connector 31"/>
          <p:cNvCxnSpPr/>
          <p:nvPr/>
        </p:nvCxnSpPr>
        <p:spPr>
          <a:xfrm rot="-4092">
            <a:off x="762000" y="4951261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304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研究背景与意义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4064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研究背景：光刻技术的核心要求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94">
            <a:off x="762008" y="1200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651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651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技术核心地位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2032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光刻技术是半导体制造的核心工艺，决定了芯片的集成度和性能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2921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2921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关键光源选择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3302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365nm紫外光波长直接影响光刻分辨率，在特定工艺中具有重要应用。</a:t>
            </a:r>
            <a:endParaRPr lang="en-US" sz="1100" dirty="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191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70000" y="4191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光强均匀性要求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70000" y="4572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曝光平面的光强均匀性是保证光刻质量、提升芯片良率的关键因素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15" name="Connector 15"/>
          <p:cNvCxnSpPr/>
          <p:nvPr/>
        </p:nvCxnSpPr>
        <p:spPr>
          <a:xfrm rot="5388145">
            <a:off x="4254500" y="3486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724649" y="5157243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光刻工艺示意图</a:t>
            </a:r>
            <a:endParaRPr lang="en-US" sz="1100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85AEA80-F323-1376-D3B8-79F0A2DF91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8392" y="1651000"/>
            <a:ext cx="3633608" cy="33573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研究意义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技术意义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286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2311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创新匀光方案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26924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提出基于LED阵列和智能算法的紫外光匀光方案，探索高精度光强控制新方法</a:t>
            </a:r>
            <a:r>
              <a:rPr lang="en-US" sz="1400" b="0" i="0" u="none" strike="noStrike" dirty="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683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3708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动态实时校正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40894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实现光照均匀性的动态、实时校正，提升光刻系统的智能化水平。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6249">
            <a:off x="4508500" y="3232163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604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应用价值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2286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2311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提升工艺良率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112000" y="26924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提高光刻工艺的稳定性和一致性，有助于提升芯片制造的良率</a:t>
            </a:r>
            <a:r>
              <a:rPr lang="en-US" sz="1400" b="0" i="0" u="none" strike="noStrike" dirty="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368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3708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成本与灵活性优势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12000" y="40894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降低对传统复杂光学器件的依赖，具有潜在的成本优势和灵活性</a:t>
            </a:r>
            <a:r>
              <a:rPr lang="en-US" sz="1400" b="0" i="0" u="none" strike="noStrike" dirty="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20" name="Connector 20"/>
          <p:cNvCxnSpPr/>
          <p:nvPr/>
        </p:nvCxnSpPr>
        <p:spPr>
          <a:xfrm rot="-4092">
            <a:off x="762004" y="532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2000" y="5651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206500" y="5651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本研究旨在通过技术创新解决行业痛点，兼具前沿探索价值与实际应用前景</a:t>
            </a:r>
            <a:r>
              <a:rPr lang="en-US" sz="1400" b="0" i="0" u="none" strike="noStrike" dirty="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国内外研究现状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3556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目前国内外</a:t>
            </a:r>
            <a:r>
              <a:rPr lang="en-US" sz="3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研究现状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16546" y="1932709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424546" y="1958109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0FFFF"/>
                </a:solidFill>
                <a:latin typeface="Noto Sans SC"/>
                <a:ea typeface="Noto Sans SC"/>
                <a:cs typeface="Noto Sans SC"/>
                <a:sym typeface="Noto Sans SC"/>
              </a:rPr>
              <a:t>巨头引领：复杂光学系统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2424546" y="2339109"/>
            <a:ext cx="3255818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ASML、Canon等公司采用</a:t>
            </a:r>
            <a:r>
              <a:rPr lang="en-US" sz="1400" b="0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复杂光学系统</a:t>
            </a: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实现高精度光强均匀性控制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6546" y="4419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424546" y="4445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0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技术前沿：LED光源探索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2424546" y="4826000"/>
            <a:ext cx="3255818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国内学者广泛研究了</a:t>
            </a:r>
            <a:r>
              <a:rPr lang="zh-CN" altLang="en-US" sz="1400" b="0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不同</a:t>
            </a:r>
            <a:r>
              <a:rPr lang="en-US" altLang="zh-CN" sz="1400" b="0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LED</a:t>
            </a:r>
            <a:r>
              <a:rPr lang="zh-CN" altLang="en-US" sz="1400" b="0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阵列结构</a:t>
            </a:r>
            <a:r>
              <a:rPr lang="zh-CN" alt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对光照均匀性的影响，提出了多种优化算法，如粒子群算法、果蝇算法、数值优化方法等，用于实现</a:t>
            </a:r>
            <a:r>
              <a:rPr lang="en-US" altLang="zh-CN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LED</a:t>
            </a:r>
            <a:r>
              <a:rPr lang="zh-CN" alt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阵列的最优排列，从而提升照明均匀性</a:t>
            </a:r>
            <a:endParaRPr lang="en-US" sz="1100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E856854-4978-489A-3F47-34B05468B105}"/>
              </a:ext>
            </a:extLst>
          </p:cNvPr>
          <p:cNvCxnSpPr/>
          <p:nvPr/>
        </p:nvCxnSpPr>
        <p:spPr>
          <a:xfrm>
            <a:off x="5865091" y="2636983"/>
            <a:ext cx="98829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utoShape 6">
            <a:extLst>
              <a:ext uri="{FF2B5EF4-FFF2-40B4-BE49-F238E27FC236}">
                <a16:creationId xmlns:a16="http://schemas.microsoft.com/office/drawing/2014/main" id="{63ABA6D9-97E4-CAA6-6A15-3F7000E13BDD}"/>
              </a:ext>
            </a:extLst>
          </p:cNvPr>
          <p:cNvSpPr/>
          <p:nvPr/>
        </p:nvSpPr>
        <p:spPr>
          <a:xfrm>
            <a:off x="7412182" y="2339109"/>
            <a:ext cx="3255818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F368EC7B-CA46-CE63-2E3E-A457BA9D97AA}"/>
              </a:ext>
            </a:extLst>
          </p:cNvPr>
          <p:cNvSpPr/>
          <p:nvPr/>
        </p:nvSpPr>
        <p:spPr>
          <a:xfrm>
            <a:off x="7088911" y="2431472"/>
            <a:ext cx="3255818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成本高，技术难</a:t>
            </a:r>
            <a:endParaRPr lang="en-US" sz="1600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E225128-30C5-DE14-BBFA-C0F863F1B972}"/>
              </a:ext>
            </a:extLst>
          </p:cNvPr>
          <p:cNvCxnSpPr/>
          <p:nvPr/>
        </p:nvCxnSpPr>
        <p:spPr>
          <a:xfrm>
            <a:off x="5865091" y="5142346"/>
            <a:ext cx="98829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utoShape 6">
            <a:extLst>
              <a:ext uri="{FF2B5EF4-FFF2-40B4-BE49-F238E27FC236}">
                <a16:creationId xmlns:a16="http://schemas.microsoft.com/office/drawing/2014/main" id="{CCAB0757-DE33-4E00-48C9-A8345F1C7167}"/>
              </a:ext>
            </a:extLst>
          </p:cNvPr>
          <p:cNvSpPr/>
          <p:nvPr/>
        </p:nvSpPr>
        <p:spPr>
          <a:xfrm>
            <a:off x="7412182" y="4826000"/>
            <a:ext cx="3255818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2" name="AutoShape 6">
            <a:extLst>
              <a:ext uri="{FF2B5EF4-FFF2-40B4-BE49-F238E27FC236}">
                <a16:creationId xmlns:a16="http://schemas.microsoft.com/office/drawing/2014/main" id="{FDA71F19-05B6-FFC9-96F0-003389208A82}"/>
              </a:ext>
            </a:extLst>
          </p:cNvPr>
          <p:cNvSpPr/>
          <p:nvPr/>
        </p:nvSpPr>
        <p:spPr>
          <a:xfrm>
            <a:off x="7038109" y="4985325"/>
            <a:ext cx="3255818" cy="4514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LED</a:t>
            </a:r>
            <a:r>
              <a:rPr lang="zh-CN" altLang="en-US" sz="2000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排列方式固定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8C12-0C8C-A86D-BD54-4434ECA63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5E8B28F-6B24-77AA-9B67-C3FC424C4B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3672CE4B-A788-5599-32F2-3FF1E092BF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F257EF9-FBF7-6FEB-E26D-737A977BF4B9}"/>
              </a:ext>
            </a:extLst>
          </p:cNvPr>
          <p:cNvSpPr/>
          <p:nvPr/>
        </p:nvSpPr>
        <p:spPr>
          <a:xfrm>
            <a:off x="1016000" y="254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altLang="zh-CN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研究目标与内容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3153521-8826-EC78-F2B3-B3424CF1B1C6}"/>
              </a:ext>
            </a:extLst>
          </p:cNvPr>
          <p:cNvSpPr/>
          <p:nvPr/>
        </p:nvSpPr>
        <p:spPr>
          <a:xfrm>
            <a:off x="5461000" y="3556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1554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研究内容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223653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22400" y="2274453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系统硬件平台搭建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422400" y="2680853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包括9块365nm LED灯板、</a:t>
            </a:r>
            <a:r>
              <a:rPr lang="en-US" altLang="zh-CN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37</a:t>
            </a:r>
            <a:r>
              <a:rPr lang="zh-CN" alt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路</a:t>
            </a: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光强传感器阵列</a:t>
            </a:r>
            <a:r>
              <a:rPr lang="zh-CN" alt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（覆盖</a:t>
            </a:r>
            <a:r>
              <a:rPr lang="en-US" altLang="zh-CN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zh-CN" alt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英寸晶圆）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、ESP32/8266主控模块的选型与电路设计。</a:t>
            </a:r>
            <a:endParaRPr lang="en-US" sz="11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544453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22400" y="3595253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系统标定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422400" y="4001653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建立LED灯板PWM值与传感器光强响应之间的映射关系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865253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22400" y="4916053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匀光算法研究与实现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422400" y="5322453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基于最小二乘法，设计并实现光照均匀度的优化算法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6186053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22400" y="6236853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系统集成与测试</a:t>
            </a:r>
            <a:endParaRPr lang="en-US" sz="1100" dirty="0"/>
          </a:p>
        </p:txBody>
      </p:sp>
      <p:cxnSp>
        <p:nvCxnSpPr>
          <p:cNvPr id="16" name="Connector 16"/>
          <p:cNvCxnSpPr/>
          <p:nvPr/>
        </p:nvCxnSpPr>
        <p:spPr>
          <a:xfrm rot="5389889">
            <a:off x="4445000" y="4376312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483600" y="24638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 dirty="0">
                <a:solidFill>
                  <a:srgbClr val="D1D5DB"/>
                </a:solidFill>
                <a:latin typeface="Noto Sans SC"/>
                <a:ea typeface="Noto Sans SC"/>
                <a:sym typeface="Noto Sans SC"/>
              </a:rPr>
              <a:t>LED</a:t>
            </a:r>
            <a:r>
              <a:rPr lang="zh-CN" altLang="en-US" b="1" dirty="0">
                <a:solidFill>
                  <a:srgbClr val="D1D5DB"/>
                </a:solidFill>
                <a:latin typeface="Noto Sans SC"/>
                <a:ea typeface="Noto Sans SC"/>
                <a:sym typeface="Noto Sans SC"/>
              </a:rPr>
              <a:t>灯珠</a:t>
            </a:r>
            <a:endParaRPr lang="en-US" sz="1100" b="1" dirty="0"/>
          </a:p>
        </p:txBody>
      </p:sp>
      <p:sp>
        <p:nvSpPr>
          <p:cNvPr id="23" name="AutoShape 18">
            <a:extLst>
              <a:ext uri="{FF2B5EF4-FFF2-40B4-BE49-F238E27FC236}">
                <a16:creationId xmlns:a16="http://schemas.microsoft.com/office/drawing/2014/main" id="{BB31F1E2-B145-0A35-CD77-D25D13FDBBB5}"/>
              </a:ext>
            </a:extLst>
          </p:cNvPr>
          <p:cNvSpPr/>
          <p:nvPr/>
        </p:nvSpPr>
        <p:spPr>
          <a:xfrm>
            <a:off x="5725909" y="5029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D1D5DB"/>
                </a:solidFill>
                <a:latin typeface="Noto Sans SC"/>
                <a:ea typeface="Noto Sans SC"/>
                <a:sym typeface="Noto Sans SC"/>
              </a:rPr>
              <a:t>光强传感器</a:t>
            </a:r>
            <a:endParaRPr lang="en-US" b="1" dirty="0">
              <a:solidFill>
                <a:srgbClr val="D1D5DB"/>
              </a:solidFill>
              <a:latin typeface="Noto Sans SC"/>
              <a:ea typeface="Noto Sans SC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9C284D0-5BE0-FDCE-69C0-56BCD7B1F2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07118" y="4292600"/>
            <a:ext cx="2193715" cy="1468674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A9036351-7D42-029D-6B84-3C7FB9A3CD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05963" y="1771981"/>
            <a:ext cx="2212109" cy="1507616"/>
          </a:xfrm>
          <a:prstGeom prst="rect">
            <a:avLst/>
          </a:prstGeom>
        </p:spPr>
      </p:pic>
      <p:sp>
        <p:nvSpPr>
          <p:cNvPr id="17" name="AutoShape 6">
            <a:extLst>
              <a:ext uri="{FF2B5EF4-FFF2-40B4-BE49-F238E27FC236}">
                <a16:creationId xmlns:a16="http://schemas.microsoft.com/office/drawing/2014/main" id="{9C7FB89B-CFDA-6929-7569-8D735C9914B0}"/>
              </a:ext>
            </a:extLst>
          </p:cNvPr>
          <p:cNvSpPr/>
          <p:nvPr/>
        </p:nvSpPr>
        <p:spPr>
          <a:xfrm>
            <a:off x="762000" y="1531503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B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设计并实现一套365nm波长紫外光自动匀光系统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304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系统总体设计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8647">
            <a:off x="5334026" y="3994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651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676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感知层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97000" y="21336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光强传感器阵列，负责采集目标平面的光强数据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04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073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97000" y="35306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ESP32/8266主控模块，运行匀光算法并输出PWM控制信号。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445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470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FF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97000" y="49276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9块365nm LED灯板，根据PWM信号精确调整发光强度。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8910">
            <a:off x="4381500" y="3613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7091216" y="5807364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系统架构示意图</a:t>
            </a:r>
            <a:endParaRPr lang="en-US" sz="11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F7C3B3B-7260-C506-7B2B-09E867B93EA1}"/>
              </a:ext>
            </a:extLst>
          </p:cNvPr>
          <p:cNvSpPr/>
          <p:nvPr/>
        </p:nvSpPr>
        <p:spPr>
          <a:xfrm>
            <a:off x="8737023" y="2234045"/>
            <a:ext cx="923637" cy="408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LED</a:t>
            </a:r>
            <a:r>
              <a:rPr lang="zh-CN" altLang="en-US" dirty="0"/>
              <a:t>阵列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39B67E-302E-1159-3401-11F75A0BABA8}"/>
              </a:ext>
            </a:extLst>
          </p:cNvPr>
          <p:cNvSpPr/>
          <p:nvPr/>
        </p:nvSpPr>
        <p:spPr>
          <a:xfrm>
            <a:off x="8618103" y="4054773"/>
            <a:ext cx="1235364" cy="408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传感器面板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F216F3E-1685-AF92-A712-00D9AF8B68BB}"/>
              </a:ext>
            </a:extLst>
          </p:cNvPr>
          <p:cNvCxnSpPr/>
          <p:nvPr/>
        </p:nvCxnSpPr>
        <p:spPr>
          <a:xfrm>
            <a:off x="8937913" y="2848263"/>
            <a:ext cx="0" cy="939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DF23013-75B9-C169-4D6D-0A1289A9F395}"/>
              </a:ext>
            </a:extLst>
          </p:cNvPr>
          <p:cNvCxnSpPr/>
          <p:nvPr/>
        </p:nvCxnSpPr>
        <p:spPr>
          <a:xfrm>
            <a:off x="9180367" y="2848263"/>
            <a:ext cx="0" cy="939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303084F-B261-97BF-7D3F-6A3C8CB30A66}"/>
              </a:ext>
            </a:extLst>
          </p:cNvPr>
          <p:cNvCxnSpPr/>
          <p:nvPr/>
        </p:nvCxnSpPr>
        <p:spPr>
          <a:xfrm>
            <a:off x="9402040" y="2848263"/>
            <a:ext cx="0" cy="939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BFE46ECB-9E08-AB9E-1D06-C5ABA67C2D4E}"/>
              </a:ext>
            </a:extLst>
          </p:cNvPr>
          <p:cNvSpPr/>
          <p:nvPr/>
        </p:nvSpPr>
        <p:spPr>
          <a:xfrm>
            <a:off x="7137976" y="3155372"/>
            <a:ext cx="923637" cy="408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FFD8EB1-5E07-334A-BB07-A6FC865B17F3}"/>
              </a:ext>
            </a:extLst>
          </p:cNvPr>
          <p:cNvCxnSpPr>
            <a:cxnSpLocks/>
          </p:cNvCxnSpPr>
          <p:nvPr/>
        </p:nvCxnSpPr>
        <p:spPr>
          <a:xfrm flipV="1">
            <a:off x="7838786" y="2467263"/>
            <a:ext cx="763154" cy="580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utoShape 7">
            <a:extLst>
              <a:ext uri="{FF2B5EF4-FFF2-40B4-BE49-F238E27FC236}">
                <a16:creationId xmlns:a16="http://schemas.microsoft.com/office/drawing/2014/main" id="{9CA57DF2-F0F0-AAF5-5455-375064BFD1A6}"/>
              </a:ext>
            </a:extLst>
          </p:cNvPr>
          <p:cNvSpPr/>
          <p:nvPr/>
        </p:nvSpPr>
        <p:spPr>
          <a:xfrm>
            <a:off x="7874000" y="2510563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控制</a:t>
            </a:r>
            <a:endParaRPr lang="en-US" sz="1100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1EDF846-7662-ED30-EF70-1F698A55924E}"/>
              </a:ext>
            </a:extLst>
          </p:cNvPr>
          <p:cNvCxnSpPr>
            <a:cxnSpLocks/>
          </p:cNvCxnSpPr>
          <p:nvPr/>
        </p:nvCxnSpPr>
        <p:spPr>
          <a:xfrm flipH="1" flipV="1">
            <a:off x="7724485" y="3686463"/>
            <a:ext cx="849746" cy="1556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7">
            <a:extLst>
              <a:ext uri="{FF2B5EF4-FFF2-40B4-BE49-F238E27FC236}">
                <a16:creationId xmlns:a16="http://schemas.microsoft.com/office/drawing/2014/main" id="{9CBC19E4-8344-AE48-4890-E87FDF9A63B0}"/>
              </a:ext>
            </a:extLst>
          </p:cNvPr>
          <p:cNvSpPr/>
          <p:nvPr/>
        </p:nvSpPr>
        <p:spPr>
          <a:xfrm>
            <a:off x="7692158" y="4497532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反馈</a:t>
            </a:r>
            <a:endParaRPr lang="en-US" dirty="0">
              <a:solidFill>
                <a:srgbClr val="E5E7EB"/>
              </a:solidFill>
              <a:latin typeface="Noto Sans SC"/>
              <a:ea typeface="Noto Sans SC"/>
            </a:endParaRPr>
          </a:p>
        </p:txBody>
      </p:sp>
      <p:sp>
        <p:nvSpPr>
          <p:cNvPr id="38" name="AutoShape 7">
            <a:extLst>
              <a:ext uri="{FF2B5EF4-FFF2-40B4-BE49-F238E27FC236}">
                <a16:creationId xmlns:a16="http://schemas.microsoft.com/office/drawing/2014/main" id="{52AA65BD-CCB4-0CF0-373A-5EF462B42436}"/>
              </a:ext>
            </a:extLst>
          </p:cNvPr>
          <p:cNvSpPr/>
          <p:nvPr/>
        </p:nvSpPr>
        <p:spPr>
          <a:xfrm>
            <a:off x="9591962" y="3143835"/>
            <a:ext cx="1921164" cy="5755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100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光线调节</a:t>
            </a:r>
            <a:endParaRPr lang="en-US" sz="11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117B253-65B2-CF46-C67C-0C81C30F62D9}"/>
              </a:ext>
            </a:extLst>
          </p:cNvPr>
          <p:cNvSpPr/>
          <p:nvPr/>
        </p:nvSpPr>
        <p:spPr>
          <a:xfrm>
            <a:off x="8618103" y="4985326"/>
            <a:ext cx="1235364" cy="408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主控模块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800D7D3-222C-2637-E8B9-0FCF855D1AA9}"/>
              </a:ext>
            </a:extLst>
          </p:cNvPr>
          <p:cNvCxnSpPr>
            <a:cxnSpLocks/>
          </p:cNvCxnSpPr>
          <p:nvPr/>
        </p:nvCxnSpPr>
        <p:spPr>
          <a:xfrm>
            <a:off x="9217313" y="4590473"/>
            <a:ext cx="0" cy="342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utoShape 7">
            <a:extLst>
              <a:ext uri="{FF2B5EF4-FFF2-40B4-BE49-F238E27FC236}">
                <a16:creationId xmlns:a16="http://schemas.microsoft.com/office/drawing/2014/main" id="{A2588CE0-5971-E3A1-A0D1-82615682050C}"/>
              </a:ext>
            </a:extLst>
          </p:cNvPr>
          <p:cNvSpPr/>
          <p:nvPr/>
        </p:nvSpPr>
        <p:spPr>
          <a:xfrm>
            <a:off x="9254836" y="4648200"/>
            <a:ext cx="895925" cy="28518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100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电压信号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硬件设计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835891" y="2598879"/>
            <a:ext cx="3302000" cy="1211121"/>
          </a:xfrm>
          <a:prstGeom prst="roundRect">
            <a:avLst>
              <a:gd name="adj" fmla="val 3076"/>
            </a:avLst>
          </a:prstGeom>
          <a:solidFill>
            <a:srgbClr val="141928">
              <a:alpha val="7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891" y="28067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4691" y="2819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LED灯板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962891" y="32512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9块独立灯板，每块含多个365nm紫外LED。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4371109" y="2621972"/>
            <a:ext cx="3302000" cy="1188027"/>
          </a:xfrm>
          <a:prstGeom prst="roundRect">
            <a:avLst>
              <a:gd name="adj" fmla="val 3076"/>
            </a:avLst>
          </a:prstGeom>
          <a:solidFill>
            <a:srgbClr val="141928">
              <a:alpha val="7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98109" y="2747819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29909" y="2788221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传感器阵列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4498109" y="3146133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37个紫外光强传感器均匀分布于PCB板。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7906327" y="2609272"/>
            <a:ext cx="3302000" cy="1200727"/>
          </a:xfrm>
          <a:prstGeom prst="roundRect">
            <a:avLst>
              <a:gd name="adj" fmla="val 3076"/>
            </a:avLst>
          </a:prstGeom>
          <a:solidFill>
            <a:srgbClr val="141928">
              <a:alpha val="7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33327" y="2729343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465127" y="2742043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主控模块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8033327" y="3136899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选用ESP32/8266，提供丰富PWM及ADC通道。</a:t>
            </a:r>
            <a:endParaRPr lang="en-US" sz="1100" dirty="0"/>
          </a:p>
        </p:txBody>
      </p:sp>
      <p:cxnSp>
        <p:nvCxnSpPr>
          <p:cNvPr id="20" name="Connector 20"/>
          <p:cNvCxnSpPr/>
          <p:nvPr/>
        </p:nvCxnSpPr>
        <p:spPr>
          <a:xfrm rot="-4092">
            <a:off x="762004" y="532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55880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143000" y="56007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模块化设计，实现光源、检测与控制的高效集成与灵活扩展。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304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关键技术与算法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4064000"/>
            <a:ext cx="1524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系统标定：建立映射关系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651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19200" y="1651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标定目的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19200" y="21082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建立每个LED灯板的PWM值与其在每个传感器位置产生的光强之间的数学模型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048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19200" y="3048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标定过程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9200" y="3606800"/>
            <a:ext cx="203200" cy="203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74800" y="3606800"/>
            <a:ext cx="444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依次点亮每个LED灯板，其他灯板关闭。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9200" y="4191000"/>
            <a:ext cx="203200" cy="203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74800" y="4191000"/>
            <a:ext cx="444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为每个LED设置不同的PWM值（如0-255）。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9200" y="4775200"/>
            <a:ext cx="203200" cy="203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74800" y="4775200"/>
            <a:ext cx="444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记录每个PWM值下，37个传感器的光强读数。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9200" y="5359400"/>
            <a:ext cx="203200" cy="203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74800" y="5359400"/>
            <a:ext cx="444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拟合得到影响系数矩阵。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89257">
            <a:off x="4064000" y="3676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BB0FD15-CF2C-FC42-51F9-5724230093BC}"/>
              </a:ext>
            </a:extLst>
          </p:cNvPr>
          <p:cNvGrpSpPr/>
          <p:nvPr/>
        </p:nvGrpSpPr>
        <p:grpSpPr>
          <a:xfrm>
            <a:off x="6606310" y="1943393"/>
            <a:ext cx="4247909" cy="2802755"/>
            <a:chOff x="8303969" y="1155149"/>
            <a:chExt cx="2323443" cy="1430649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54734701-59FB-3B6F-5569-F0C93685A5F4}"/>
                </a:ext>
              </a:extLst>
            </p:cNvPr>
            <p:cNvGrpSpPr/>
            <p:nvPr/>
          </p:nvGrpSpPr>
          <p:grpSpPr>
            <a:xfrm>
              <a:off x="9329541" y="1155149"/>
              <a:ext cx="1297871" cy="601850"/>
              <a:chOff x="9318825" y="972920"/>
              <a:chExt cx="1297871" cy="608386"/>
            </a:xfrm>
          </p:grpSpPr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639FFB69-535A-E928-FF47-71A3F0F8495B}"/>
                  </a:ext>
                </a:extLst>
              </p:cNvPr>
              <p:cNvGrpSpPr/>
              <p:nvPr/>
            </p:nvGrpSpPr>
            <p:grpSpPr>
              <a:xfrm>
                <a:off x="9406855" y="1174922"/>
                <a:ext cx="1120386" cy="104205"/>
                <a:chOff x="9376552" y="1320537"/>
                <a:chExt cx="1120386" cy="104205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E8F45315-11A4-DA85-1BC5-905B42ECAA35}"/>
                    </a:ext>
                  </a:extLst>
                </p:cNvPr>
                <p:cNvSpPr/>
                <p:nvPr/>
              </p:nvSpPr>
              <p:spPr>
                <a:xfrm>
                  <a:off x="9750490" y="1320537"/>
                  <a:ext cx="373224" cy="10420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CB02CAF9-0038-AB0A-558A-1D4DA79C0B6C}"/>
                    </a:ext>
                  </a:extLst>
                </p:cNvPr>
                <p:cNvSpPr/>
                <p:nvPr/>
              </p:nvSpPr>
              <p:spPr>
                <a:xfrm>
                  <a:off x="10123714" y="1320537"/>
                  <a:ext cx="373224" cy="10420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48ACBCB8-A861-85C2-4742-9EDC62877B82}"/>
                    </a:ext>
                  </a:extLst>
                </p:cNvPr>
                <p:cNvSpPr/>
                <p:nvPr/>
              </p:nvSpPr>
              <p:spPr>
                <a:xfrm>
                  <a:off x="9376552" y="1320537"/>
                  <a:ext cx="373224" cy="10420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3" name="梯形 32">
                <a:extLst>
                  <a:ext uri="{FF2B5EF4-FFF2-40B4-BE49-F238E27FC236}">
                    <a16:creationId xmlns:a16="http://schemas.microsoft.com/office/drawing/2014/main" id="{1790FF21-0D8C-AD3B-7EB9-BDA5110B167B}"/>
                  </a:ext>
                </a:extLst>
              </p:cNvPr>
              <p:cNvSpPr/>
              <p:nvPr/>
            </p:nvSpPr>
            <p:spPr>
              <a:xfrm>
                <a:off x="9318825" y="1319696"/>
                <a:ext cx="1297871" cy="261610"/>
              </a:xfrm>
              <a:prstGeom prst="trapezoid">
                <a:avLst>
                  <a:gd name="adj" fmla="val 42818"/>
                </a:avLst>
              </a:prstGeom>
              <a:gradFill flip="none" rotWithShape="1">
                <a:gsLst>
                  <a:gs pos="0">
                    <a:srgbClr val="8145C3">
                      <a:tint val="66000"/>
                      <a:satMod val="160000"/>
                    </a:srgbClr>
                  </a:gs>
                  <a:gs pos="50000">
                    <a:srgbClr val="8145C3">
                      <a:tint val="44500"/>
                      <a:satMod val="160000"/>
                    </a:srgbClr>
                  </a:gs>
                  <a:gs pos="100000">
                    <a:srgbClr val="8145C3">
                      <a:tint val="23500"/>
                      <a:satMod val="160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星形: 五角 33">
                <a:extLst>
                  <a:ext uri="{FF2B5EF4-FFF2-40B4-BE49-F238E27FC236}">
                    <a16:creationId xmlns:a16="http://schemas.microsoft.com/office/drawing/2014/main" id="{854329C6-75EA-CCC0-0A7B-EA3346952DB5}"/>
                  </a:ext>
                </a:extLst>
              </p:cNvPr>
              <p:cNvSpPr/>
              <p:nvPr/>
            </p:nvSpPr>
            <p:spPr>
              <a:xfrm>
                <a:off x="9868434" y="972920"/>
                <a:ext cx="197942" cy="178126"/>
              </a:xfrm>
              <a:prstGeom prst="star5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7EECC3E-018E-E168-0E95-AF21F59A2CD2}"/>
                </a:ext>
              </a:extLst>
            </p:cNvPr>
            <p:cNvSpPr txBox="1"/>
            <p:nvPr/>
          </p:nvSpPr>
          <p:spPr>
            <a:xfrm>
              <a:off x="8369700" y="1317352"/>
              <a:ext cx="2228535" cy="361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阵列式</a:t>
              </a: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UV-LED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光源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96B9C44-D029-C7F7-0C5F-326F963E0D26}"/>
                </a:ext>
              </a:extLst>
            </p:cNvPr>
            <p:cNvSpPr txBox="1"/>
            <p:nvPr/>
          </p:nvSpPr>
          <p:spPr>
            <a:xfrm>
              <a:off x="8303969" y="2428695"/>
              <a:ext cx="592003" cy="157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传感器阵列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45CC21B-9FF9-651B-D128-3C325F6AC0B5}"/>
              </a:ext>
            </a:extLst>
          </p:cNvPr>
          <p:cNvCxnSpPr/>
          <p:nvPr/>
        </p:nvCxnSpPr>
        <p:spPr>
          <a:xfrm>
            <a:off x="8294255" y="439420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D9752D6-33BE-5C9C-46AE-2F5EB4A06E5D}"/>
              </a:ext>
            </a:extLst>
          </p:cNvPr>
          <p:cNvCxnSpPr/>
          <p:nvPr/>
        </p:nvCxnSpPr>
        <p:spPr>
          <a:xfrm>
            <a:off x="8382000" y="4618182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C9AA9A3-8A48-1339-12B2-D16F122BAC77}"/>
              </a:ext>
            </a:extLst>
          </p:cNvPr>
          <p:cNvCxnSpPr/>
          <p:nvPr/>
        </p:nvCxnSpPr>
        <p:spPr>
          <a:xfrm>
            <a:off x="8294255" y="4394200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B8D9EA6F-9C15-F67F-7E99-7E54123FFECF}"/>
              </a:ext>
            </a:extLst>
          </p:cNvPr>
          <p:cNvCxnSpPr/>
          <p:nvPr/>
        </p:nvCxnSpPr>
        <p:spPr>
          <a:xfrm>
            <a:off x="8871528" y="439403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24F3D32-2AEB-5D6A-9CD2-5589D74F2D58}"/>
              </a:ext>
            </a:extLst>
          </p:cNvPr>
          <p:cNvCxnSpPr/>
          <p:nvPr/>
        </p:nvCxnSpPr>
        <p:spPr>
          <a:xfrm>
            <a:off x="8942802" y="439420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78F4EA96-E62E-97FF-26E9-FCD8269B27B8}"/>
              </a:ext>
            </a:extLst>
          </p:cNvPr>
          <p:cNvCxnSpPr/>
          <p:nvPr/>
        </p:nvCxnSpPr>
        <p:spPr>
          <a:xfrm>
            <a:off x="9030547" y="4618182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10F1B7B0-27F7-F837-F0E1-0C97F3929767}"/>
              </a:ext>
            </a:extLst>
          </p:cNvPr>
          <p:cNvCxnSpPr/>
          <p:nvPr/>
        </p:nvCxnSpPr>
        <p:spPr>
          <a:xfrm>
            <a:off x="8942802" y="4394200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6D6B255B-77B4-6AEB-9CC7-875D663FBBE5}"/>
              </a:ext>
            </a:extLst>
          </p:cNvPr>
          <p:cNvCxnSpPr/>
          <p:nvPr/>
        </p:nvCxnSpPr>
        <p:spPr>
          <a:xfrm>
            <a:off x="9520075" y="439403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E5118D45-A549-2185-C010-8181CBAA6055}"/>
              </a:ext>
            </a:extLst>
          </p:cNvPr>
          <p:cNvCxnSpPr/>
          <p:nvPr/>
        </p:nvCxnSpPr>
        <p:spPr>
          <a:xfrm>
            <a:off x="9586344" y="4390285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10E413AD-3F5B-55E3-FB8B-6285BD06C7D1}"/>
              </a:ext>
            </a:extLst>
          </p:cNvPr>
          <p:cNvCxnSpPr/>
          <p:nvPr/>
        </p:nvCxnSpPr>
        <p:spPr>
          <a:xfrm>
            <a:off x="9674089" y="4614267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5B54F07D-CE0E-1015-9CC5-C84C5FA2570F}"/>
              </a:ext>
            </a:extLst>
          </p:cNvPr>
          <p:cNvCxnSpPr/>
          <p:nvPr/>
        </p:nvCxnSpPr>
        <p:spPr>
          <a:xfrm>
            <a:off x="9586344" y="4390285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E4DA0AB-1239-02B5-D244-430273914148}"/>
              </a:ext>
            </a:extLst>
          </p:cNvPr>
          <p:cNvCxnSpPr/>
          <p:nvPr/>
        </p:nvCxnSpPr>
        <p:spPr>
          <a:xfrm>
            <a:off x="10163617" y="4390115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8427589D-D970-C1DD-D6C4-D2958A9699C2}"/>
              </a:ext>
            </a:extLst>
          </p:cNvPr>
          <p:cNvCxnSpPr/>
          <p:nvPr/>
        </p:nvCxnSpPr>
        <p:spPr>
          <a:xfrm>
            <a:off x="8446655" y="454660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132159EA-D903-A07D-322A-5346AAC4B4D4}"/>
              </a:ext>
            </a:extLst>
          </p:cNvPr>
          <p:cNvCxnSpPr/>
          <p:nvPr/>
        </p:nvCxnSpPr>
        <p:spPr>
          <a:xfrm>
            <a:off x="8534400" y="4770582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B5A0921-889C-1D0F-4B35-8AA739AE06FB}"/>
              </a:ext>
            </a:extLst>
          </p:cNvPr>
          <p:cNvCxnSpPr/>
          <p:nvPr/>
        </p:nvCxnSpPr>
        <p:spPr>
          <a:xfrm>
            <a:off x="8446655" y="4546600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CF237E92-2B70-E2C7-6B91-D6CD1D52B1E0}"/>
              </a:ext>
            </a:extLst>
          </p:cNvPr>
          <p:cNvCxnSpPr/>
          <p:nvPr/>
        </p:nvCxnSpPr>
        <p:spPr>
          <a:xfrm>
            <a:off x="9023928" y="454643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7C5266E8-33B7-7D2D-529E-D56946B92236}"/>
              </a:ext>
            </a:extLst>
          </p:cNvPr>
          <p:cNvCxnSpPr/>
          <p:nvPr/>
        </p:nvCxnSpPr>
        <p:spPr>
          <a:xfrm>
            <a:off x="9095202" y="454660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401232C3-6379-95F3-FA86-275ADB87E450}"/>
              </a:ext>
            </a:extLst>
          </p:cNvPr>
          <p:cNvCxnSpPr/>
          <p:nvPr/>
        </p:nvCxnSpPr>
        <p:spPr>
          <a:xfrm>
            <a:off x="9182947" y="4770582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0D21DBF9-768A-3B53-A4F0-84498A88ABBA}"/>
              </a:ext>
            </a:extLst>
          </p:cNvPr>
          <p:cNvCxnSpPr/>
          <p:nvPr/>
        </p:nvCxnSpPr>
        <p:spPr>
          <a:xfrm>
            <a:off x="9095202" y="4546600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153D5657-6588-E6F0-F156-966E7532DDC0}"/>
              </a:ext>
            </a:extLst>
          </p:cNvPr>
          <p:cNvCxnSpPr/>
          <p:nvPr/>
        </p:nvCxnSpPr>
        <p:spPr>
          <a:xfrm>
            <a:off x="9672475" y="454643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18CAEFD0-DEF7-578E-4AC5-648239D7D73F}"/>
              </a:ext>
            </a:extLst>
          </p:cNvPr>
          <p:cNvCxnSpPr/>
          <p:nvPr/>
        </p:nvCxnSpPr>
        <p:spPr>
          <a:xfrm>
            <a:off x="9738744" y="4542685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824CF8BA-7646-5B59-742D-F53780C4E201}"/>
              </a:ext>
            </a:extLst>
          </p:cNvPr>
          <p:cNvCxnSpPr/>
          <p:nvPr/>
        </p:nvCxnSpPr>
        <p:spPr>
          <a:xfrm>
            <a:off x="9826489" y="4766667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23009DD1-AC31-B5B0-3F71-6383D7A81C89}"/>
              </a:ext>
            </a:extLst>
          </p:cNvPr>
          <p:cNvCxnSpPr/>
          <p:nvPr/>
        </p:nvCxnSpPr>
        <p:spPr>
          <a:xfrm>
            <a:off x="9738744" y="4542685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E99CF292-5B6E-14B7-B177-9E52FDE5A219}"/>
              </a:ext>
            </a:extLst>
          </p:cNvPr>
          <p:cNvCxnSpPr/>
          <p:nvPr/>
        </p:nvCxnSpPr>
        <p:spPr>
          <a:xfrm>
            <a:off x="10316017" y="4542515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55DD208F-533E-E010-2B8F-4C649BDA26C9}"/>
              </a:ext>
            </a:extLst>
          </p:cNvPr>
          <p:cNvCxnSpPr/>
          <p:nvPr/>
        </p:nvCxnSpPr>
        <p:spPr>
          <a:xfrm>
            <a:off x="8599055" y="469900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62108544-C590-41C6-8291-E35AC0F0329A}"/>
              </a:ext>
            </a:extLst>
          </p:cNvPr>
          <p:cNvCxnSpPr/>
          <p:nvPr/>
        </p:nvCxnSpPr>
        <p:spPr>
          <a:xfrm>
            <a:off x="8686800" y="4922982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68A735DC-3ECD-62B8-0DA0-D7E7C30AFA8B}"/>
              </a:ext>
            </a:extLst>
          </p:cNvPr>
          <p:cNvCxnSpPr/>
          <p:nvPr/>
        </p:nvCxnSpPr>
        <p:spPr>
          <a:xfrm>
            <a:off x="8599055" y="4699000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E1D2A513-6F20-5972-45A4-599CA5422560}"/>
              </a:ext>
            </a:extLst>
          </p:cNvPr>
          <p:cNvCxnSpPr/>
          <p:nvPr/>
        </p:nvCxnSpPr>
        <p:spPr>
          <a:xfrm>
            <a:off x="9176328" y="469883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FAAB9B86-7023-F351-BBE9-0DB72C3150A1}"/>
              </a:ext>
            </a:extLst>
          </p:cNvPr>
          <p:cNvCxnSpPr/>
          <p:nvPr/>
        </p:nvCxnSpPr>
        <p:spPr>
          <a:xfrm>
            <a:off x="9247602" y="469900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474F4437-0DA7-4399-84F0-0302EFA22648}"/>
              </a:ext>
            </a:extLst>
          </p:cNvPr>
          <p:cNvCxnSpPr/>
          <p:nvPr/>
        </p:nvCxnSpPr>
        <p:spPr>
          <a:xfrm>
            <a:off x="9335347" y="4922982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E50FADBC-7C2B-E7A2-A20D-1974293E3696}"/>
              </a:ext>
            </a:extLst>
          </p:cNvPr>
          <p:cNvCxnSpPr/>
          <p:nvPr/>
        </p:nvCxnSpPr>
        <p:spPr>
          <a:xfrm>
            <a:off x="9247602" y="4699000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42F788A7-7C82-B77F-1780-01AA7D87502E}"/>
              </a:ext>
            </a:extLst>
          </p:cNvPr>
          <p:cNvCxnSpPr/>
          <p:nvPr/>
        </p:nvCxnSpPr>
        <p:spPr>
          <a:xfrm>
            <a:off x="9824875" y="469883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BF0DB8F9-7872-FFD9-DDE2-26B6B877E438}"/>
              </a:ext>
            </a:extLst>
          </p:cNvPr>
          <p:cNvCxnSpPr/>
          <p:nvPr/>
        </p:nvCxnSpPr>
        <p:spPr>
          <a:xfrm>
            <a:off x="9891144" y="4695085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A9AE7D1D-4F80-AF6F-4621-2DA0B8395C64}"/>
              </a:ext>
            </a:extLst>
          </p:cNvPr>
          <p:cNvCxnSpPr/>
          <p:nvPr/>
        </p:nvCxnSpPr>
        <p:spPr>
          <a:xfrm>
            <a:off x="9978889" y="4919067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5A735E63-0B1B-74AA-6A14-6E0C54976E21}"/>
              </a:ext>
            </a:extLst>
          </p:cNvPr>
          <p:cNvCxnSpPr/>
          <p:nvPr/>
        </p:nvCxnSpPr>
        <p:spPr>
          <a:xfrm>
            <a:off x="9891144" y="4695085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FB4F1919-6A49-0FC9-1C2A-AB03AC6C221A}"/>
              </a:ext>
            </a:extLst>
          </p:cNvPr>
          <p:cNvCxnSpPr/>
          <p:nvPr/>
        </p:nvCxnSpPr>
        <p:spPr>
          <a:xfrm>
            <a:off x="10468417" y="4694915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1D1ADFFF-FBDE-50E3-EAA8-5AA01F91EFA2}"/>
              </a:ext>
            </a:extLst>
          </p:cNvPr>
          <p:cNvCxnSpPr/>
          <p:nvPr/>
        </p:nvCxnSpPr>
        <p:spPr>
          <a:xfrm>
            <a:off x="8751455" y="485140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BABA0ADE-40A7-0AC2-D9C0-192779C8955F}"/>
              </a:ext>
            </a:extLst>
          </p:cNvPr>
          <p:cNvCxnSpPr/>
          <p:nvPr/>
        </p:nvCxnSpPr>
        <p:spPr>
          <a:xfrm>
            <a:off x="8839200" y="5075382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C48C2644-83C9-7435-C4AC-BCB363E0803E}"/>
              </a:ext>
            </a:extLst>
          </p:cNvPr>
          <p:cNvCxnSpPr/>
          <p:nvPr/>
        </p:nvCxnSpPr>
        <p:spPr>
          <a:xfrm>
            <a:off x="8751455" y="4851400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2FED5975-1B36-10AE-577F-E14E37173781}"/>
              </a:ext>
            </a:extLst>
          </p:cNvPr>
          <p:cNvCxnSpPr/>
          <p:nvPr/>
        </p:nvCxnSpPr>
        <p:spPr>
          <a:xfrm>
            <a:off x="9328728" y="485123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718DF366-9C72-C0CF-862C-FDE195D7C1E1}"/>
              </a:ext>
            </a:extLst>
          </p:cNvPr>
          <p:cNvCxnSpPr/>
          <p:nvPr/>
        </p:nvCxnSpPr>
        <p:spPr>
          <a:xfrm>
            <a:off x="9400002" y="485140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DC1FD586-7A21-AB43-6BE8-24E286BFAC6C}"/>
              </a:ext>
            </a:extLst>
          </p:cNvPr>
          <p:cNvCxnSpPr/>
          <p:nvPr/>
        </p:nvCxnSpPr>
        <p:spPr>
          <a:xfrm>
            <a:off x="9487747" y="5075382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8C36058-F442-CC1F-D491-7C95CEA213D7}"/>
              </a:ext>
            </a:extLst>
          </p:cNvPr>
          <p:cNvCxnSpPr/>
          <p:nvPr/>
        </p:nvCxnSpPr>
        <p:spPr>
          <a:xfrm>
            <a:off x="9400002" y="4851400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1993B02C-05BB-9BC7-DC1F-A09BB988AE46}"/>
              </a:ext>
            </a:extLst>
          </p:cNvPr>
          <p:cNvCxnSpPr/>
          <p:nvPr/>
        </p:nvCxnSpPr>
        <p:spPr>
          <a:xfrm>
            <a:off x="9977275" y="485123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8B968EFB-7BB1-B980-E1F5-F5210B96B00F}"/>
              </a:ext>
            </a:extLst>
          </p:cNvPr>
          <p:cNvCxnSpPr/>
          <p:nvPr/>
        </p:nvCxnSpPr>
        <p:spPr>
          <a:xfrm>
            <a:off x="10043544" y="4847485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FE156755-7E17-F6FA-1917-A9A5F51482A1}"/>
              </a:ext>
            </a:extLst>
          </p:cNvPr>
          <p:cNvCxnSpPr/>
          <p:nvPr/>
        </p:nvCxnSpPr>
        <p:spPr>
          <a:xfrm>
            <a:off x="10131289" y="5071467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C47AF80F-7FD4-61B0-D0D6-A577338D2767}"/>
              </a:ext>
            </a:extLst>
          </p:cNvPr>
          <p:cNvCxnSpPr/>
          <p:nvPr/>
        </p:nvCxnSpPr>
        <p:spPr>
          <a:xfrm>
            <a:off x="10043544" y="4847485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B0B78B51-F7C7-C1FE-ED24-EF187BE5610E}"/>
              </a:ext>
            </a:extLst>
          </p:cNvPr>
          <p:cNvCxnSpPr/>
          <p:nvPr/>
        </p:nvCxnSpPr>
        <p:spPr>
          <a:xfrm>
            <a:off x="10620817" y="4847315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BBCEAEAF-644C-3FD1-9D03-51CC55C4D6DC}"/>
              </a:ext>
            </a:extLst>
          </p:cNvPr>
          <p:cNvCxnSpPr/>
          <p:nvPr/>
        </p:nvCxnSpPr>
        <p:spPr>
          <a:xfrm>
            <a:off x="8903855" y="500380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7DBEAEB0-7D93-FE84-1954-15CD406B101D}"/>
              </a:ext>
            </a:extLst>
          </p:cNvPr>
          <p:cNvCxnSpPr/>
          <p:nvPr/>
        </p:nvCxnSpPr>
        <p:spPr>
          <a:xfrm>
            <a:off x="8991600" y="5227782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9F40E0B5-BA29-AB64-4B74-E471897C131F}"/>
              </a:ext>
            </a:extLst>
          </p:cNvPr>
          <p:cNvCxnSpPr/>
          <p:nvPr/>
        </p:nvCxnSpPr>
        <p:spPr>
          <a:xfrm>
            <a:off x="8903855" y="5003800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00C05F0B-FA3E-F163-7392-DE257C20A092}"/>
              </a:ext>
            </a:extLst>
          </p:cNvPr>
          <p:cNvCxnSpPr/>
          <p:nvPr/>
        </p:nvCxnSpPr>
        <p:spPr>
          <a:xfrm>
            <a:off x="9481128" y="500363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81F64CAC-58D3-7A92-7474-73130EAC5598}"/>
              </a:ext>
            </a:extLst>
          </p:cNvPr>
          <p:cNvCxnSpPr/>
          <p:nvPr/>
        </p:nvCxnSpPr>
        <p:spPr>
          <a:xfrm>
            <a:off x="9552402" y="500380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178E287A-2174-9B4D-5246-AD0CBEC6106F}"/>
              </a:ext>
            </a:extLst>
          </p:cNvPr>
          <p:cNvCxnSpPr/>
          <p:nvPr/>
        </p:nvCxnSpPr>
        <p:spPr>
          <a:xfrm>
            <a:off x="9640147" y="5227782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8E5AD71B-0EEB-C145-8E22-D6CBD9E1E003}"/>
              </a:ext>
            </a:extLst>
          </p:cNvPr>
          <p:cNvCxnSpPr/>
          <p:nvPr/>
        </p:nvCxnSpPr>
        <p:spPr>
          <a:xfrm>
            <a:off x="9552402" y="5003800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0B3E0D0E-BE6E-75BB-AE38-98A803BCA3AF}"/>
              </a:ext>
            </a:extLst>
          </p:cNvPr>
          <p:cNvCxnSpPr/>
          <p:nvPr/>
        </p:nvCxnSpPr>
        <p:spPr>
          <a:xfrm>
            <a:off x="10129675" y="5003630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F9347D4E-E42C-F925-05F6-2045639914B7}"/>
              </a:ext>
            </a:extLst>
          </p:cNvPr>
          <p:cNvCxnSpPr/>
          <p:nvPr/>
        </p:nvCxnSpPr>
        <p:spPr>
          <a:xfrm>
            <a:off x="10195944" y="4999885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FB34C26F-B9C4-B35F-313E-D8944DBF4CD9}"/>
              </a:ext>
            </a:extLst>
          </p:cNvPr>
          <p:cNvCxnSpPr/>
          <p:nvPr/>
        </p:nvCxnSpPr>
        <p:spPr>
          <a:xfrm>
            <a:off x="10283689" y="5223867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C82FE655-0C0D-861B-E3B1-348364C0B469}"/>
              </a:ext>
            </a:extLst>
          </p:cNvPr>
          <p:cNvCxnSpPr/>
          <p:nvPr/>
        </p:nvCxnSpPr>
        <p:spPr>
          <a:xfrm>
            <a:off x="10195944" y="4999885"/>
            <a:ext cx="577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938ADA8A-9B90-251C-0019-C38349A4BAF8}"/>
              </a:ext>
            </a:extLst>
          </p:cNvPr>
          <p:cNvCxnSpPr/>
          <p:nvPr/>
        </p:nvCxnSpPr>
        <p:spPr>
          <a:xfrm>
            <a:off x="10773217" y="4999715"/>
            <a:ext cx="87745" cy="223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AB185C49-6DD4-4C06-4C63-B7675A81CC7B}"/>
              </a:ext>
            </a:extLst>
          </p:cNvPr>
          <p:cNvCxnSpPr/>
          <p:nvPr/>
        </p:nvCxnSpPr>
        <p:spPr>
          <a:xfrm flipH="1">
            <a:off x="8599055" y="2733773"/>
            <a:ext cx="343747" cy="1555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D65AEDD-AEE8-E172-1B75-EE8294E1934C}"/>
              </a:ext>
            </a:extLst>
          </p:cNvPr>
          <p:cNvCxnSpPr>
            <a:cxnSpLocks/>
          </p:cNvCxnSpPr>
          <p:nvPr/>
        </p:nvCxnSpPr>
        <p:spPr>
          <a:xfrm flipH="1">
            <a:off x="8736734" y="2763812"/>
            <a:ext cx="832139" cy="1537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60FB7DE3-B9C5-EDED-7931-1DC8C7A2768D}"/>
              </a:ext>
            </a:extLst>
          </p:cNvPr>
          <p:cNvCxnSpPr>
            <a:cxnSpLocks/>
          </p:cNvCxnSpPr>
          <p:nvPr/>
        </p:nvCxnSpPr>
        <p:spPr>
          <a:xfrm flipH="1">
            <a:off x="8839200" y="2763812"/>
            <a:ext cx="1444489" cy="1541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最小二乘法匀光算法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4">
            <a:off x="762008" y="1200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算法原理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2225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06500" y="22225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设定目标光强为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target</a:t>
            </a: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，各LED的PWM值为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pi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29845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06500" y="29845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创建</a:t>
            </a: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影响系数矩阵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 S[</a:t>
            </a:r>
            <a:r>
              <a:rPr lang="en-US" altLang="zh-CN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][</a:t>
            </a:r>
            <a:r>
              <a:rPr lang="en-US" altLang="zh-CN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j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]，</a:t>
            </a:r>
            <a:r>
              <a:rPr lang="zh-CN" alt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第</a:t>
            </a:r>
            <a:r>
              <a:rPr lang="en-US" altLang="zh-CN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j</a:t>
            </a:r>
            <a:r>
              <a:rPr lang="zh-CN" alt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号灯板每涨一个单位</a:t>
            </a:r>
            <a:r>
              <a:rPr lang="en-US" altLang="zh-CN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PWM,</a:t>
            </a:r>
            <a:r>
              <a:rPr lang="zh-CN" alt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第</a:t>
            </a:r>
            <a:r>
              <a:rPr lang="en-US" altLang="zh-CN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zh-CN" alt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号传感器变化光强</a:t>
            </a:r>
            <a:r>
              <a:rPr lang="en-US" altLang="zh-CN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S[</a:t>
            </a:r>
            <a:r>
              <a:rPr lang="en-US" altLang="zh-CN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altLang="zh-CN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][j]</a:t>
            </a:r>
            <a:endParaRPr lang="en-US" sz="110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3746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06500" y="37465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目标是最小化误差平方和</a:t>
            </a:r>
            <a:endParaRPr lang="en-US" sz="1100" dirty="0"/>
          </a:p>
        </p:txBody>
      </p:sp>
      <p:cxnSp>
        <p:nvCxnSpPr>
          <p:cNvPr id="12" name="Connector 12"/>
          <p:cNvCxnSpPr/>
          <p:nvPr/>
        </p:nvCxnSpPr>
        <p:spPr>
          <a:xfrm rot="5384373">
            <a:off x="4699000" y="3041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求解过程</a:t>
            </a:r>
            <a:endParaRPr lang="en-US" sz="110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4DE3AD0-D3B1-346A-B347-E75C2046D7E5}"/>
              </a:ext>
            </a:extLst>
          </p:cNvPr>
          <p:cNvCxnSpPr/>
          <p:nvPr/>
        </p:nvCxnSpPr>
        <p:spPr>
          <a:xfrm>
            <a:off x="8922327" y="3988986"/>
            <a:ext cx="0" cy="526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utoShape 15">
            <a:extLst>
              <a:ext uri="{FF2B5EF4-FFF2-40B4-BE49-F238E27FC236}">
                <a16:creationId xmlns:a16="http://schemas.microsoft.com/office/drawing/2014/main" id="{18B542B6-2F43-E029-DF4D-AA2B14A5CD02}"/>
              </a:ext>
            </a:extLst>
          </p:cNvPr>
          <p:cNvSpPr/>
          <p:nvPr/>
        </p:nvSpPr>
        <p:spPr>
          <a:xfrm>
            <a:off x="9007763" y="4099823"/>
            <a:ext cx="2092035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解出</a:t>
            </a:r>
            <a:endParaRPr lang="en-US" sz="1100" dirty="0"/>
          </a:p>
        </p:txBody>
      </p:sp>
      <p:sp>
        <p:nvSpPr>
          <p:cNvPr id="28" name="AutoShape 15">
            <a:extLst>
              <a:ext uri="{FF2B5EF4-FFF2-40B4-BE49-F238E27FC236}">
                <a16:creationId xmlns:a16="http://schemas.microsoft.com/office/drawing/2014/main" id="{160D84E2-72BC-A4BB-9544-8A46FA172EDB}"/>
              </a:ext>
            </a:extLst>
          </p:cNvPr>
          <p:cNvSpPr/>
          <p:nvPr/>
        </p:nvSpPr>
        <p:spPr>
          <a:xfrm>
            <a:off x="6440921" y="2343150"/>
            <a:ext cx="1996784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随机初始化</a:t>
            </a:r>
            <a:r>
              <a:rPr lang="en-US" altLang="zh-CN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PWMi</a:t>
            </a:r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905773-6DC4-6DC3-4E42-768CFF596CC3}"/>
                  </a:ext>
                </a:extLst>
              </p:cNvPr>
              <p:cNvSpPr txBox="1"/>
              <p:nvPr/>
            </p:nvSpPr>
            <p:spPr>
              <a:xfrm>
                <a:off x="6017491" y="2714882"/>
                <a:ext cx="6160654" cy="1063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E5E7EB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E5E7EB"/>
                                  </a:solidFill>
                                  <a:latin typeface="Cambria Math" panose="02040503050406030204" pitchFamily="18" charset="0"/>
                                  <a:ea typeface="Noto Sans SC"/>
                                  <a:cs typeface="Noto Sans SC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𝑆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·△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𝑆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·△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+⋯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𝑆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9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·△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=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arg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𝑒𝑡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−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𝑙𝑖𝑔h𝑡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𝑆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·△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𝑆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·△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+⋯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𝑆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9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·△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=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arg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𝑒𝑡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−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𝑙𝑖𝑔h𝑡</m:t>
                                </m:r>
                                <m:r>
                                  <a:rPr lang="en-US" altLang="zh-CN" i="1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𝑆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37</m:t>
                                        </m:r>
                                      </m:e>
                                    </m:d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·△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𝑆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37</m:t>
                                        </m:r>
                                      </m:e>
                                    </m:d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·△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+⋯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𝑆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37</m:t>
                                        </m:r>
                                      </m:e>
                                    </m:d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en-US" i="1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solidFill>
                                              <a:srgbClr val="E5E7EB"/>
                                            </a:solidFill>
                                            <a:latin typeface="Cambria Math" panose="02040503050406030204" pitchFamily="18" charset="0"/>
                                            <a:ea typeface="Noto Sans SC"/>
                                            <a:cs typeface="Noto Sans SC"/>
                                          </a:rPr>
                                          <m:t>9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·△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=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arg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𝑒𝑡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−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𝑙𝑖𝑔h𝑡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37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E5E7EB"/>
                  </a:solidFill>
                  <a:latin typeface="Noto Sans SC"/>
                  <a:ea typeface="Noto Sans SC"/>
                  <a:cs typeface="Noto Sans SC"/>
                </a:endParaRPr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3905773-6DC4-6DC3-4E42-768CFF596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491" y="2714882"/>
                <a:ext cx="6160654" cy="1063368"/>
              </a:xfrm>
              <a:prstGeom prst="rect">
                <a:avLst/>
              </a:prstGeom>
              <a:blipFill>
                <a:blip r:embed="rId9"/>
                <a:stretch>
                  <a:fillRect r="-29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2F150DDD-FBEB-DF0C-9727-AD8E12EB35DC}"/>
                  </a:ext>
                </a:extLst>
              </p:cNvPr>
              <p:cNvSpPr txBox="1"/>
              <p:nvPr/>
            </p:nvSpPr>
            <p:spPr>
              <a:xfrm>
                <a:off x="6594764" y="4058746"/>
                <a:ext cx="616989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>
                          <a:solidFill>
                            <a:srgbClr val="E5E7EB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</a:rPr>
                        <m:t>△</m:t>
                      </m:r>
                      <m:r>
                        <a:rPr lang="zh-CN" altLang="en-US" i="1">
                          <a:solidFill>
                            <a:srgbClr val="E5E7EB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E5E7EB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</a:rPr>
                        <m:t>PW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E5E7EB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</a:rPr>
                          </m:ctrlPr>
                        </m:sSubPr>
                        <m:e>
                          <m:r>
                            <a:rPr lang="zh-CN" altLang="en-US">
                              <a:solidFill>
                                <a:srgbClr val="E5E7EB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</a:rPr>
                            <m:t>𝑀</m:t>
                          </m:r>
                        </m:e>
                        <m:sub>
                          <m:r>
                            <a:rPr lang="zh-CN" altLang="en-US">
                              <a:solidFill>
                                <a:srgbClr val="E5E7EB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E5E7EB"/>
                  </a:solidFill>
                  <a:latin typeface="Noto Sans SC"/>
                  <a:ea typeface="Noto Sans SC"/>
                  <a:cs typeface="Noto Sans SC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2F150DDD-FBEB-DF0C-9727-AD8E12EB3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764" y="4058746"/>
                <a:ext cx="6169890" cy="307777"/>
              </a:xfrm>
              <a:prstGeom prst="rect">
                <a:avLst/>
              </a:prstGeom>
              <a:blipFill>
                <a:blip r:embed="rId1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E29B859-87A0-9E9A-EBEB-38F8EFE00BD1}"/>
                  </a:ext>
                </a:extLst>
              </p:cNvPr>
              <p:cNvSpPr txBox="1"/>
              <p:nvPr/>
            </p:nvSpPr>
            <p:spPr>
              <a:xfrm>
                <a:off x="5731164" y="4585219"/>
                <a:ext cx="6382326" cy="1063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E5E7EB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E5E7EB"/>
                                  </a:solidFill>
                                  <a:latin typeface="Cambria Math" panose="02040503050406030204" pitchFamily="18" charset="0"/>
                                  <a:ea typeface="Noto Sans SC"/>
                                  <a:cs typeface="Noto Sans SC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𝑃𝑊𝑀</m:t>
                                </m:r>
                                <m:r>
                                  <m:rPr>
                                    <m:lit/>
                                  </m:rP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_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𝑛𝑒𝑤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1=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𝑃𝑊𝑀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+△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𝑃𝑊𝑀</m:t>
                                </m:r>
                                <m:r>
                                  <m:rPr>
                                    <m:lit/>
                                  </m:rP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_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𝑛𝑒𝑤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2=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𝑃𝑊𝑀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+△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𝑃𝑊𝑀</m:t>
                                </m:r>
                                <m:r>
                                  <m:rPr>
                                    <m:lit/>
                                  </m:rP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_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𝑛𝑒𝑤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9=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𝑃𝑊𝑀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+△</m:t>
                                </m:r>
                                <m:r>
                                  <a:rPr lang="zh-CN" altLang="en-US">
                                    <a:solidFill>
                                      <a:srgbClr val="E5E7EB"/>
                                    </a:solidFill>
                                    <a:latin typeface="Cambria Math" panose="02040503050406030204" pitchFamily="18" charset="0"/>
                                    <a:ea typeface="Noto Sans SC"/>
                                    <a:cs typeface="Noto Sans SC"/>
                                  </a:rPr>
                                  <m:t>𝑃𝑊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zh-CN" altLang="en-US">
                                        <a:solidFill>
                                          <a:srgbClr val="E5E7EB"/>
                                        </a:solidFill>
                                        <a:latin typeface="Cambria Math" panose="02040503050406030204" pitchFamily="18" charset="0"/>
                                        <a:ea typeface="Noto Sans SC"/>
                                        <a:cs typeface="Noto Sans SC"/>
                                      </a:rPr>
                                      <m:t>9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E5E7EB"/>
                  </a:solidFill>
                  <a:latin typeface="Noto Sans SC"/>
                  <a:ea typeface="Noto Sans SC"/>
                  <a:cs typeface="Noto Sans SC"/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E29B859-87A0-9E9A-EBEB-38F8EFE00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164" y="4585219"/>
                <a:ext cx="6382326" cy="10633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304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实验方案与验证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4057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270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实验环境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52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核心设备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159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22400" y="22098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365nm紫外光自动匀光系统原型机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422400" y="25908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自主搭建的实验核心平台，用于产生稳定、均匀的紫外光场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479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22400" y="35306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高精度光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强监测计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422400" y="39116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用于精确校准传感器和测量光强分布，确保数据准确性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800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22400" y="48514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光学暗箱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1422400" y="52324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提供无干扰的实验空间，有效排除环境光对测量结果的影响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16" name="Connector 16"/>
          <p:cNvCxnSpPr/>
          <p:nvPr/>
        </p:nvCxnSpPr>
        <p:spPr>
          <a:xfrm rot="5389889">
            <a:off x="3937000" y="3676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604000" y="152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环境控制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2159000"/>
            <a:ext cx="4826000" cy="1524000"/>
          </a:xfrm>
          <a:prstGeom prst="roundRect">
            <a:avLst>
              <a:gd name="adj" fmla="val 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58000" y="2413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366000" y="2413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暗室环境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7366000" y="2794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在暗箱中进行，隔绝所有外部光线。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04000" y="3937000"/>
            <a:ext cx="4826000" cy="1524000"/>
          </a:xfrm>
          <a:prstGeom prst="roundRect">
            <a:avLst>
              <a:gd name="adj" fmla="val 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8000" y="4191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366000" y="4191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恒温控制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366000" y="4572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实验区域温度恒定，保障设备稳定运行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实验验证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524000"/>
            <a:ext cx="5080000" cy="2032000"/>
          </a:xfrm>
          <a:prstGeom prst="roundRect">
            <a:avLst>
              <a:gd name="adj" fmla="val 5000"/>
            </a:avLst>
          </a:prstGeom>
          <a:solidFill>
            <a:srgbClr val="1C2A46">
              <a:alpha val="6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1828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76400" y="1879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均匀性测试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76400" y="23114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在目标平面选取多点测量光强，计算并评估最终匀光效果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350000" y="1524000"/>
            <a:ext cx="5080000" cy="2032000"/>
          </a:xfrm>
          <a:prstGeom prst="roundRect">
            <a:avLst>
              <a:gd name="adj" fmla="val 5000"/>
            </a:avLst>
          </a:prstGeom>
          <a:solidFill>
            <a:srgbClr val="1C2A46">
              <a:alpha val="6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4800" y="18288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64400" y="1879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响应速度测试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64400" y="23114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通过人为干扰，记录系统恢复均匀状态的时间，检验动态性能。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5080000" cy="2032000"/>
          </a:xfrm>
          <a:prstGeom prst="roundRect">
            <a:avLst>
              <a:gd name="adj" fmla="val 5000"/>
            </a:avLst>
          </a:prstGeom>
          <a:solidFill>
            <a:srgbClr val="1C2A46">
              <a:alpha val="6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6800" y="41148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76400" y="4165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稳定性测试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676400" y="45974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系统连续运行8小时，周期性记录数据，评估长时间工作的可靠性。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3810000"/>
            <a:ext cx="5080000" cy="2032000"/>
          </a:xfrm>
          <a:prstGeom prst="roundRect">
            <a:avLst>
              <a:gd name="adj" fmla="val 5000"/>
            </a:avLst>
          </a:prstGeom>
          <a:solidFill>
            <a:srgbClr val="1C2A46">
              <a:alpha val="6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54800" y="41148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264400" y="4165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数据记录与分析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264400" y="45974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对所有实验数据进行系统性记录与分析，综合评估系统性能。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286000" y="2733968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8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感谢各位老师批评指正</a:t>
            </a:r>
            <a:endParaRPr lang="en-US" sz="1100" dirty="0"/>
          </a:p>
        </p:txBody>
      </p:sp>
      <p:cxnSp>
        <p:nvCxnSpPr>
          <p:cNvPr id="5" name="Connector 5"/>
          <p:cNvCxnSpPr>
            <a:cxnSpLocks/>
          </p:cNvCxnSpPr>
          <p:nvPr/>
        </p:nvCxnSpPr>
        <p:spPr>
          <a:xfrm>
            <a:off x="3195782" y="3673768"/>
            <a:ext cx="5855854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2221345" y="3876968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谢谢大家</a:t>
            </a:r>
            <a:r>
              <a:rPr lang="en-US" sz="2000" b="1" i="0" u="none" strike="noStrike" dirty="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  <a:endParaRPr lang="en-US" sz="11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FCD030D-5578-B8A0-DFE7-02FE784972C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37" r="-1534" b="1"/>
          <a:stretch/>
        </p:blipFill>
        <p:spPr>
          <a:xfrm>
            <a:off x="0" y="-7669"/>
            <a:ext cx="1302327" cy="12668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865</Words>
  <Application>Microsoft Office PowerPoint</Application>
  <PresentationFormat>宽屏</PresentationFormat>
  <Paragraphs>188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Noto Sans SC</vt:lpstr>
      <vt:lpstr>微软雅黑</vt:lpstr>
      <vt:lpstr>Arial</vt:lpstr>
      <vt:lpstr>Cambria Math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竞予 张</cp:lastModifiedBy>
  <cp:revision>35</cp:revision>
  <dcterms:modified xsi:type="dcterms:W3CDTF">2026-01-16T01:46:13Z</dcterms:modified>
</cp:coreProperties>
</file>